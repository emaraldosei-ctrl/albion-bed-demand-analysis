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Occupancy</c:v>
                </c:pt>
              </c:strCache>
            </c:strRef>
          </c:tx>
          <c:spPr>
            <a:solidFill>
              <a:srgbClr val="005E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C627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79.099999999999994</c:v>
                </c:pt>
                <c:pt idx="1">
                  <c:v>86.3</c:v>
                </c:pt>
                <c:pt idx="2">
                  <c:v>80.7</c:v>
                </c:pt>
                <c:pt idx="3">
                  <c:v>76.2</c:v>
                </c:pt>
                <c:pt idx="4">
                  <c:v>71.900000000000006</c:v>
                </c:pt>
                <c:pt idx="5">
                  <c:v>69.099999999999994</c:v>
                </c:pt>
                <c:pt idx="6">
                  <c:v>66.900000000000006</c:v>
                </c:pt>
                <c:pt idx="7">
                  <c:v>59.7</c:v>
                </c:pt>
                <c:pt idx="8">
                  <c:v>71.099999999999994</c:v>
                </c:pt>
                <c:pt idx="9">
                  <c:v>75.900000000000006</c:v>
                </c:pt>
                <c:pt idx="10">
                  <c:v>79</c:v>
                </c:pt>
                <c:pt idx="11">
                  <c:v>80.900000000000006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878675136"/>
        <c:axId val="-878678944"/>
      </c:barChart>
      <c:catAx>
        <c:axId val="-8786751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6272"/>
                </a:solidFill>
                <a:latin typeface="Arial"/>
              </a:defRPr>
            </a:pPr>
            <a:endParaRPr lang="en-US"/>
          </a:p>
        </c:txPr>
        <c:crossAx val="-878678944"/>
        <c:crosses val="autoZero"/>
        <c:auto val="1"/>
        <c:lblAlgn val="ctr"/>
        <c:lblOffset val="100"/>
        <c:noMultiLvlLbl val="1"/>
      </c:catAx>
      <c:valAx>
        <c:axId val="-878678944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6272"/>
                </a:solidFill>
                <a:latin typeface="Arial"/>
              </a:defRPr>
            </a:pPr>
            <a:endParaRPr lang="en-US"/>
          </a:p>
        </c:txPr>
        <c:crossAx val="-878675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5EB8"/>
              </a:solidFill>
              <a:effectLst/>
            </c:spPr>
          </c:dPt>
          <c:dPt>
            <c:idx val="1"/>
            <c:bubble3D val="0"/>
            <c:spPr>
              <a:solidFill>
                <a:srgbClr val="41B6E6"/>
              </a:solidFill>
              <a:effectLst/>
            </c:spPr>
          </c:dPt>
          <c:dPt>
            <c:idx val="2"/>
            <c:bubble3D val="0"/>
            <c:spPr>
              <a:solidFill>
                <a:srgbClr val="D6EAF8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Emergency</c:v>
                </c:pt>
                <c:pt idx="1">
                  <c:v>Elective</c:v>
                </c:pt>
                <c:pt idx="2">
                  <c:v>Transfer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79.88</c:v>
                </c:pt>
                <c:pt idx="1">
                  <c:v>17.84</c:v>
                </c:pt>
                <c:pt idx="2">
                  <c:v>2.2799999999999998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100">
              <a:solidFill>
                <a:srgbClr val="212B3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LOS (hrs)</c:v>
                </c:pt>
              </c:strCache>
            </c:strRef>
          </c:tx>
          <c:spPr>
            <a:solidFill>
              <a:srgbClr val="41B6E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C627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Oncology</c:v>
                </c:pt>
                <c:pt idx="1">
                  <c:v>ICU</c:v>
                </c:pt>
                <c:pt idx="2">
                  <c:v>Orthopaedics B</c:v>
                </c:pt>
                <c:pt idx="3">
                  <c:v>Orthopaedics A</c:v>
                </c:pt>
                <c:pt idx="4">
                  <c:v>Cardiology</c:v>
                </c:pt>
                <c:pt idx="5">
                  <c:v>Gen Med A</c:v>
                </c:pt>
                <c:pt idx="6">
                  <c:v>Gen Med B</c:v>
                </c:pt>
                <c:pt idx="7">
                  <c:v>Day Case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123</c:v>
                </c:pt>
                <c:pt idx="1">
                  <c:v>104</c:v>
                </c:pt>
                <c:pt idx="2">
                  <c:v>99</c:v>
                </c:pt>
                <c:pt idx="3">
                  <c:v>99</c:v>
                </c:pt>
                <c:pt idx="4">
                  <c:v>77</c:v>
                </c:pt>
                <c:pt idx="5">
                  <c:v>74</c:v>
                </c:pt>
                <c:pt idx="6">
                  <c:v>73</c:v>
                </c:pt>
                <c:pt idx="7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878678400"/>
        <c:axId val="-878681664"/>
      </c:barChart>
      <c:catAx>
        <c:axId val="-8786784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6272"/>
                </a:solidFill>
                <a:latin typeface="Arial"/>
              </a:defRPr>
            </a:pPr>
            <a:endParaRPr lang="en-US"/>
          </a:p>
        </c:txPr>
        <c:crossAx val="-878681664"/>
        <c:crosses val="autoZero"/>
        <c:auto val="1"/>
        <c:lblAlgn val="ctr"/>
        <c:lblOffset val="100"/>
        <c:noMultiLvlLbl val="1"/>
      </c:catAx>
      <c:valAx>
        <c:axId val="-87868166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C6272"/>
                </a:solidFill>
                <a:latin typeface="Arial"/>
              </a:defRPr>
            </a:pPr>
            <a:endParaRPr lang="en-US"/>
          </a:p>
        </c:txPr>
        <c:crossAx val="-878678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Occupancy</c:v>
                </c:pt>
              </c:strCache>
            </c:strRef>
          </c:tx>
          <c:spPr>
            <a:solidFill>
              <a:srgbClr val="005EB8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FFB81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A291C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C627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Today</c:v>
                </c:pt>
                <c:pt idx="1">
                  <c:v>+10% surge</c:v>
                </c:pt>
                <c:pt idx="2">
                  <c:v>+20% surge</c:v>
                </c:pt>
                <c:pt idx="3">
                  <c:v>+30% surge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74.599999999999994</c:v>
                </c:pt>
                <c:pt idx="1">
                  <c:v>81.2</c:v>
                </c:pt>
                <c:pt idx="2">
                  <c:v>87.8</c:v>
                </c:pt>
                <c:pt idx="3">
                  <c:v>94.4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878676768"/>
        <c:axId val="-878674592"/>
      </c:barChart>
      <c:catAx>
        <c:axId val="-878676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C6272"/>
                </a:solidFill>
                <a:latin typeface="Arial"/>
              </a:defRPr>
            </a:pPr>
            <a:endParaRPr lang="en-US"/>
          </a:p>
        </c:txPr>
        <c:crossAx val="-878674592"/>
        <c:crosses val="autoZero"/>
        <c:auto val="1"/>
        <c:lblAlgn val="ctr"/>
        <c:lblOffset val="100"/>
        <c:noMultiLvlLbl val="1"/>
      </c:catAx>
      <c:valAx>
        <c:axId val="-87867459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6272"/>
                </a:solidFill>
                <a:latin typeface="Arial"/>
              </a:defRPr>
            </a:pPr>
            <a:endParaRPr lang="en-US"/>
          </a:p>
        </c:txPr>
        <c:crossAx val="-878676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41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EDA INSIGHTS &amp; DATA HANDOFF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6E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data shows 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1B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Healthcare  ·  Data Analyst  ·  Weeks 1–2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1B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hospitals · 8 wards · hourly data Jan 2024 – early 2026 ·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91440" cy="96012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59105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headline numbers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75104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network stands 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606040"/>
            <a:ext cx="91440" cy="96012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34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73405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findings from the EDA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118104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Seasonality, demand mix, LOS, staffing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49040"/>
            <a:ext cx="91440" cy="96012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77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87705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Scenario testing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261104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flu surge would actually 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892040"/>
            <a:ext cx="91440" cy="96012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206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502005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B3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DS receives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404104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Cleaned tables, caveats, and the handoff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· Bed Demand Forecasting · DA track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picture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2148840" cy="64008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74.6%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occupancy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07208" y="137160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07208" y="1371600"/>
            <a:ext cx="2148840" cy="64008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9" name="Text 7"/>
          <p:cNvSpPr/>
          <p:nvPr/>
        </p:nvSpPr>
        <p:spPr>
          <a:xfrm>
            <a:off x="2807208" y="16916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A29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33.6%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07208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at full capacity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65776" y="137160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65776" y="1371600"/>
            <a:ext cx="2148840" cy="64008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13" name="Text 11"/>
          <p:cNvSpPr/>
          <p:nvPr/>
        </p:nvSpPr>
        <p:spPr>
          <a:xfrm>
            <a:off x="5065776" y="16916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16.8 pts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65776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Winter–summer swing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24344" y="137160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24344" y="1371600"/>
            <a:ext cx="2148840" cy="64008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17" name="Text 15"/>
          <p:cNvSpPr/>
          <p:nvPr/>
        </p:nvSpPr>
        <p:spPr>
          <a:xfrm>
            <a:off x="7324344" y="16916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24344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admissions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82912" y="1371600"/>
            <a:ext cx="2148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82912" y="1371600"/>
            <a:ext cx="2148840" cy="64008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912" y="16916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191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582912" y="25146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Beds free on average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DF0EF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136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29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number that matters most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251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74.6% average hides the truth: a third of all ward-hours are at 100% capacity. Planners don't experience the average — they experience the moment the ward is full.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· Bed Demand Forecasting · DA track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Occupancy is strongly seasonal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63040"/>
          <a:ext cx="70408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86384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20574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Peaks at 86.3% in February — brushing the 85% safe operating limit.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29718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Bottoms at 59.7% in August.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38862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Winter averages 82.0% vs summer 65.2% — a 16.8-point swing.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48006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Winter carries the real risk of shortages; summer has spare capacity.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· Bed Demand Forecasting · DA track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Demand is overwhelmingly emergency-driven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554480"/>
          <a:ext cx="53949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67512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75120" y="21945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of admissions are emergencies (104,634 of 130,993) — arriving unscheduled.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0" y="31546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18% is elective, i.e. plannable.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0" y="4114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must absorb demand that cannot be scheduled away.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50749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 arrivals confirm the seasonal shape independently: 65% higher in January than August.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· Bed Demand Forecasting · DA track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few wards consume most bed-days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55448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1945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Oncology (123h) and ICU (104h) hold patients far longer than average.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80960" y="31546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stays (84h) exceed elective (77h) — more emergencies means more bed-days.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41148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Case (5h) is low by design, not underuse.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80960" y="50749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Long-stay wards are the natural target for bed-usage optimisation.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· Bed Demand Forecasting · DA track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5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A0A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Finding 4 · Operational risk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Staffing doesn't flex with demand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3A1E1F"/>
          </a:solidFill>
          <a:ln w="12700">
            <a:solidFill>
              <a:srgbClr val="DA29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16.8 pts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A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Occupancy swings across the year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E3A2B"/>
          </a:solidFill>
          <a:ln w="12700">
            <a:solidFill>
              <a:srgbClr val="007F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9.6%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7D9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Staffing varies only this much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gap is the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ADC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Occupancy rises sharply in winter but staffing stays broadly flat — the busiest months are the least cushioned.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95604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ADC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staffing ratios were missed in 4.3% of shifts overall.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52297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EADC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Aligning staff levels to the seasonal demand curve is the clearest operational fix.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29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Finding 5 · Scenario test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 flu surge would actually do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645920"/>
          <a:ext cx="67665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Modelled in Power BI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22402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what-if slider models an emergency-admission surge and recalculates occupancy live.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32004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20% surge pushes the network past the 85% safe limit.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41605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30% surge — a realistic bad flu season — takes occupancy to 94.4%.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5120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planning scenario, not a forecast: it assumes surge patients behave like average patients.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· Bed Demand Forecasting · DA track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Confirmed demand drivers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EDA points to one coherent 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00584" cy="804672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Season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69164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Winter (Dec–Feb) drives peak demand; summer is the lull.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14600"/>
            <a:ext cx="100584" cy="804672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060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Emergencies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of admissions arrive unscheduled and rise in winter.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29000"/>
            <a:ext cx="100584" cy="804672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204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Length of stay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52044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patients stay longer, multiplying bed-days.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43400"/>
            <a:ext cx="100584" cy="804672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348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Ward mix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443484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Oncology and ICU concentrate long stays and pressure.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257800"/>
            <a:ext cx="100584" cy="804672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49240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29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Staffing gap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534924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Staff levels stay flat while demand swings — a risk.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· Bed Demand Forecasting · DA track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Handoff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Data Science track receives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cleaned tables in /data/clean/ — the same data that powers the Power BI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064240" cy="384048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293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90288" y="19293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19088" y="1929384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bed_inventory_occupancy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0288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701,760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19088" y="2331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occupied vs staffed beds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15768"/>
            <a:ext cx="11064240" cy="45720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788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admissions_discharges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0288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130,993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2788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Admissions, discharges, derived LOS_hours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ed_outpatient_arrivals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0288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361,975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19088" y="3246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 arrivals — emergency inflow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30168"/>
            <a:ext cx="11064240" cy="45720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elective_surgery_schedule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0288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25,355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9088" y="37033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surgery + cancellations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087368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160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staffing_resource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90288" y="4160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116,960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19088" y="4160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vs actual staff, safe-ratio flag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544568"/>
            <a:ext cx="11064240" cy="457200"/>
          </a:xfrm>
          <a:prstGeom prst="rect">
            <a:avLst/>
          </a:prstGeom>
          <a:solidFill>
            <a:srgbClr val="F0F4F5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617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hospital_reference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90288" y="4617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19088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dimension / lookup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52303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Accompanied by: full cleaning documentation + data dictionary (every decision and its rationale).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· Bed Demand Forecasting · DA track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model — five things to know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cleaning decisions that affect how the data should be 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00584" cy="850392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LOS_hours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78308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from admission/discharge timestamps. The original length_of_stay_hours column was incomplete and has been dropped.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51760"/>
            <a:ext cx="100584" cy="850392"/>
          </a:xfrm>
          <a:prstGeom prst="rect">
            <a:avLst/>
          </a:prstGeom>
          <a:solidFill>
            <a:srgbClr val="FFB81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impute the structural nulls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74320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time_to_admission is null for non-admitted ED patients; cancellation_reason is blank for completed surgeries. These are correct.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6424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11880"/>
            <a:ext cx="100584" cy="850392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Gaps already filled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70332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expected_los_days filled by per-procedure-group median. occupied_beds forward-filled by hour.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572000"/>
            <a:ext cx="100584" cy="850392"/>
          </a:xfrm>
          <a:prstGeom prst="rect">
            <a:avLst/>
          </a:prstGeom>
          <a:solidFill>
            <a:srgbClr val="DA291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634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29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Duplicates handled with care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466344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486 identical rows removed. 37 rows share an admission_id but conflict — retained and flagged. Take care joining on admission_id.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1106424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532120"/>
            <a:ext cx="100584" cy="850392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623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E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562356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B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hospitals, Jan 2024 – early 2026. Join key is hospital_id.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Albion Care Network · Bed Demand Forecasting · DA track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2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5E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"/>
          </a:xfrm>
          <a:prstGeom prst="rect">
            <a:avLst/>
          </a:prstGeom>
          <a:solidFill>
            <a:srgbClr val="41B6E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this goes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004A93"/>
          </a:solidFill>
          <a:ln w="12700">
            <a:solidFill>
              <a:srgbClr val="41B6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933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 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dashboard is built. Next: scenario views, then the report and recommendations.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004A93"/>
          </a:solidFill>
          <a:ln w="12700">
            <a:solidFill>
              <a:srgbClr val="41B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649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7307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Ingests the cleaned tables, engineers features, and builds the forecasting models.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004A93"/>
          </a:solidFill>
          <a:ln w="12700">
            <a:solidFill>
              <a:srgbClr val="41B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7365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B6E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Together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102352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shows what is happening; the forecast shows what happens next. Same clean data underneath.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4195</TotalTime>
  <Words>929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Esmeralda</dc:creator>
  <cp:lastModifiedBy>Esmeralda Pinamang Osei</cp:lastModifiedBy>
  <cp:revision>3</cp:revision>
  <dcterms:created xsi:type="dcterms:W3CDTF">2026-07-11T09:03:15Z</dcterms:created>
  <dcterms:modified xsi:type="dcterms:W3CDTF">2026-07-14T07:06:04Z</dcterms:modified>
</cp:coreProperties>
</file>